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499" r:id="rId2"/>
    <p:sldId id="436" r:id="rId3"/>
    <p:sldId id="492" r:id="rId4"/>
    <p:sldId id="493" r:id="rId5"/>
    <p:sldId id="494" r:id="rId6"/>
    <p:sldId id="495" r:id="rId7"/>
    <p:sldId id="496" r:id="rId8"/>
    <p:sldId id="497" r:id="rId9"/>
    <p:sldId id="49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364" autoAdjust="0"/>
  </p:normalViewPr>
  <p:slideViewPr>
    <p:cSldViewPr snapToGrid="0">
      <p:cViewPr varScale="1">
        <p:scale>
          <a:sx n="73" d="100"/>
          <a:sy n="73" d="100"/>
        </p:scale>
        <p:origin x="61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0059D-9FB5-41AA-B5B0-1F1E0ED7A1DC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FC890-5C38-46F7-B83E-4665B11C6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85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50E7F-E35A-4F6E-8043-EACF71D24789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7670-3E52-4EA5-A2D5-36CCFE35C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72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50E7F-E35A-4F6E-8043-EACF71D24789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7670-3E52-4EA5-A2D5-36CCFE35C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3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50E7F-E35A-4F6E-8043-EACF71D24789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7670-3E52-4EA5-A2D5-36CCFE35C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59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50E7F-E35A-4F6E-8043-EACF71D24789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7670-3E52-4EA5-A2D5-36CCFE35C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4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50E7F-E35A-4F6E-8043-EACF71D24789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7670-3E52-4EA5-A2D5-36CCFE35C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05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50E7F-E35A-4F6E-8043-EACF71D24789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7670-3E52-4EA5-A2D5-36CCFE35C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39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50E7F-E35A-4F6E-8043-EACF71D24789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7670-3E52-4EA5-A2D5-36CCFE35C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17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50E7F-E35A-4F6E-8043-EACF71D24789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7670-3E52-4EA5-A2D5-36CCFE35C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40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50E7F-E35A-4F6E-8043-EACF71D24789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7670-3E52-4EA5-A2D5-36CCFE35C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92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50E7F-E35A-4F6E-8043-EACF71D24789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7670-3E52-4EA5-A2D5-36CCFE35C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9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50E7F-E35A-4F6E-8043-EACF71D24789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37670-3E52-4EA5-A2D5-36CCFE35C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87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50E7F-E35A-4F6E-8043-EACF71D24789}" type="datetimeFigureOut">
              <a:rPr lang="en-US" smtClean="0"/>
              <a:t>12/19/2021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37670-3E52-4EA5-A2D5-36CCFE35C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0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4735" y="3952566"/>
            <a:ext cx="10471356" cy="973391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17412" name="Picture 4" descr="Bismillah | Islamic wallpaper, Islamic wallpaper hd, Beautiful wallpapers  background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79402"/>
            <a:ext cx="12192000" cy="73478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5168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1440" y="2618510"/>
            <a:ext cx="121005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PAKISTAN’s NATIONAL INTEREST…</a:t>
            </a:r>
          </a:p>
          <a:p>
            <a:pPr algn="ctr"/>
            <a:endParaRPr lang="en-US" sz="4000" b="1" dirty="0" smtClean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35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1564" y="0"/>
            <a:ext cx="12100560" cy="6755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PAKISTAN’S NATIONAL INTEREST</a:t>
            </a:r>
            <a:endParaRPr lang="en-US" sz="3400" dirty="0" smtClean="0">
              <a:latin typeface="Book Antiqua" panose="02040602050305030304" pitchFamily="18" charset="0"/>
            </a:endParaRPr>
          </a:p>
          <a:p>
            <a:pPr algn="just"/>
            <a:endParaRPr lang="en-US" sz="3400" b="1" dirty="0" smtClean="0">
              <a:solidFill>
                <a:srgbClr val="FF0000"/>
              </a:solidFill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300" dirty="0" smtClean="0">
                <a:latin typeface="Book Antiqua" panose="02040602050305030304" pitchFamily="18" charset="0"/>
              </a:rPr>
              <a:t>Any </a:t>
            </a:r>
            <a:r>
              <a:rPr lang="en-US" sz="3300" dirty="0">
                <a:latin typeface="Book Antiqua" panose="02040602050305030304" pitchFamily="18" charset="0"/>
              </a:rPr>
              <a:t>country’s primary national interest is </a:t>
            </a:r>
            <a:r>
              <a:rPr lang="en-US" sz="3300" b="1" dirty="0">
                <a:latin typeface="Book Antiqua" panose="02040602050305030304" pitchFamily="18" charset="0"/>
              </a:rPr>
              <a:t>‘survival’</a:t>
            </a:r>
            <a:r>
              <a:rPr lang="en-US" sz="3300" dirty="0">
                <a:latin typeface="Book Antiqua" panose="02040602050305030304" pitchFamily="18" charset="0"/>
              </a:rPr>
              <a:t>. </a:t>
            </a:r>
            <a:endParaRPr lang="en-US" sz="33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300" dirty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300" dirty="0" smtClean="0">
                <a:latin typeface="Book Antiqua" panose="02040602050305030304" pitchFamily="18" charset="0"/>
              </a:rPr>
              <a:t>In order to achieve survival, one </a:t>
            </a:r>
            <a:r>
              <a:rPr lang="en-US" sz="3300" dirty="0">
                <a:latin typeface="Book Antiqua" panose="02040602050305030304" pitchFamily="18" charset="0"/>
              </a:rPr>
              <a:t>country has to aim for other goals such as </a:t>
            </a:r>
            <a:r>
              <a:rPr lang="en-US" sz="3300" b="1" dirty="0">
                <a:latin typeface="Book Antiqua" panose="02040602050305030304" pitchFamily="18" charset="0"/>
              </a:rPr>
              <a:t>national security, economic prosperity, seeking alliances</a:t>
            </a:r>
            <a:r>
              <a:rPr lang="en-US" sz="3300" dirty="0">
                <a:latin typeface="Book Antiqua" panose="02040602050305030304" pitchFamily="18" charset="0"/>
              </a:rPr>
              <a:t> among other interests. </a:t>
            </a:r>
            <a:r>
              <a:rPr lang="en-US" sz="3300" b="1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Pakistan’s </a:t>
            </a:r>
            <a:r>
              <a:rPr lang="en-US" sz="3300" b="1" dirty="0">
                <a:solidFill>
                  <a:srgbClr val="FF0000"/>
                </a:solidFill>
                <a:latin typeface="Book Antiqua" panose="02040602050305030304" pitchFamily="18" charset="0"/>
              </a:rPr>
              <a:t>national interest has always been influenced by external powers. </a:t>
            </a:r>
            <a:endParaRPr lang="en-US" sz="3300" b="1" dirty="0" smtClean="0">
              <a:solidFill>
                <a:srgbClr val="FF0000"/>
              </a:solidFill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300" dirty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300" dirty="0" smtClean="0">
                <a:latin typeface="Book Antiqua" panose="02040602050305030304" pitchFamily="18" charset="0"/>
              </a:rPr>
              <a:t>Pakistan </a:t>
            </a:r>
            <a:r>
              <a:rPr lang="en-US" sz="3300" dirty="0">
                <a:latin typeface="Book Antiqua" panose="02040602050305030304" pitchFamily="18" charset="0"/>
              </a:rPr>
              <a:t>as a nation must aim at attaining self-reliance in pursuing its national </a:t>
            </a:r>
            <a:r>
              <a:rPr lang="en-US" sz="3300" dirty="0" smtClean="0">
                <a:latin typeface="Book Antiqua" panose="02040602050305030304" pitchFamily="18" charset="0"/>
              </a:rPr>
              <a:t>interest, </a:t>
            </a:r>
            <a:r>
              <a:rPr lang="en-US" sz="3300" dirty="0">
                <a:latin typeface="Book Antiqua" panose="02040602050305030304" pitchFamily="18" charset="0"/>
              </a:rPr>
              <a:t>that must relate to the economic vision of the country and should be achieved with pragmatism.</a:t>
            </a:r>
          </a:p>
        </p:txBody>
      </p:sp>
    </p:spTree>
    <p:extLst>
      <p:ext uri="{BB962C8B-B14F-4D97-AF65-F5344CB8AC3E}">
        <p14:creationId xmlns:p14="http://schemas.microsoft.com/office/powerpoint/2010/main" val="419535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1564" y="0"/>
            <a:ext cx="12100560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PAKISTAN’S NATIONAL INTEREST</a:t>
            </a:r>
            <a:endParaRPr lang="en-US" sz="3400" dirty="0" smtClean="0">
              <a:latin typeface="Book Antiqua" panose="02040602050305030304" pitchFamily="18" charset="0"/>
            </a:endParaRPr>
          </a:p>
          <a:p>
            <a:pPr algn="just"/>
            <a:endParaRPr lang="en-US" sz="3400" b="1" dirty="0" smtClean="0">
              <a:solidFill>
                <a:srgbClr val="FF0000"/>
              </a:solidFill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National </a:t>
            </a:r>
            <a:r>
              <a:rPr lang="en-US" sz="3400" dirty="0">
                <a:latin typeface="Book Antiqua" panose="02040602050305030304" pitchFamily="18" charset="0"/>
              </a:rPr>
              <a:t>Security for survival and Safety of the Nuclear </a:t>
            </a:r>
            <a:r>
              <a:rPr lang="en-US" sz="3400" dirty="0" smtClean="0">
                <a:latin typeface="Book Antiqua" panose="02040602050305030304" pitchFamily="18" charset="0"/>
              </a:rPr>
              <a:t>Program.</a:t>
            </a:r>
            <a:endParaRPr lang="en-US" sz="3400" dirty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Economic </a:t>
            </a:r>
            <a:r>
              <a:rPr lang="en-US" sz="3400" dirty="0">
                <a:latin typeface="Book Antiqua" panose="02040602050305030304" pitchFamily="18" charset="0"/>
              </a:rPr>
              <a:t>Prosperity; the nation-state must possess, produce, procure and trade for the means of survival at a predetermined level which reflects its means and </a:t>
            </a:r>
            <a:r>
              <a:rPr lang="en-US" sz="3400" dirty="0" smtClean="0">
                <a:latin typeface="Book Antiqua" panose="02040602050305030304" pitchFamily="18" charset="0"/>
              </a:rPr>
              <a:t>aspirations.</a:t>
            </a:r>
            <a:endParaRPr lang="en-US" sz="3400" dirty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Sovereignty </a:t>
            </a:r>
            <a:r>
              <a:rPr lang="en-US" sz="3400" dirty="0">
                <a:latin typeface="Book Antiqua" panose="02040602050305030304" pitchFamily="18" charset="0"/>
              </a:rPr>
              <a:t>of the </a:t>
            </a:r>
            <a:r>
              <a:rPr lang="en-US" sz="3400" dirty="0" smtClean="0">
                <a:latin typeface="Book Antiqua" panose="02040602050305030304" pitchFamily="18" charset="0"/>
              </a:rPr>
              <a:t>state.</a:t>
            </a:r>
            <a:endParaRPr lang="en-US" sz="3400" dirty="0">
              <a:latin typeface="Book Antiqua" panose="02040602050305030304" pitchFamily="18" charset="0"/>
            </a:endParaRPr>
          </a:p>
          <a:p>
            <a:pPr algn="just"/>
            <a:r>
              <a:rPr lang="en-US" sz="3400" dirty="0">
                <a:latin typeface="Book Antiqua" panose="02040602050305030304" pitchFamily="18" charset="0"/>
              </a:rPr>
              <a:t>i.	the ability to resist </a:t>
            </a:r>
            <a:r>
              <a:rPr lang="en-US" sz="3400" dirty="0" smtClean="0">
                <a:latin typeface="Book Antiqua" panose="02040602050305030304" pitchFamily="18" charset="0"/>
              </a:rPr>
              <a:t>coercion.</a:t>
            </a:r>
            <a:endParaRPr lang="en-US" sz="3400" dirty="0">
              <a:latin typeface="Book Antiqua" panose="02040602050305030304" pitchFamily="18" charset="0"/>
            </a:endParaRPr>
          </a:p>
          <a:p>
            <a:pPr algn="just"/>
            <a:r>
              <a:rPr lang="en-US" sz="3400" dirty="0">
                <a:latin typeface="Book Antiqua" panose="02040602050305030304" pitchFamily="18" charset="0"/>
              </a:rPr>
              <a:t>ii.	the ability to coerce other </a:t>
            </a:r>
            <a:r>
              <a:rPr lang="en-US" sz="3400" dirty="0" smtClean="0">
                <a:latin typeface="Book Antiqua" panose="02040602050305030304" pitchFamily="18" charset="0"/>
              </a:rPr>
              <a:t>states.</a:t>
            </a:r>
            <a:endParaRPr lang="en-US" sz="3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442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1564" y="0"/>
            <a:ext cx="12100560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PAKISTAN’S NATIONAL INTEREST</a:t>
            </a:r>
            <a:endParaRPr lang="en-US" sz="34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Seeking </a:t>
            </a:r>
            <a:r>
              <a:rPr lang="en-US" sz="3400" dirty="0">
                <a:latin typeface="Book Antiqua" panose="02040602050305030304" pitchFamily="18" charset="0"/>
              </a:rPr>
              <a:t>alliances that may break the </a:t>
            </a:r>
            <a:r>
              <a:rPr lang="en-US" sz="3400" dirty="0" smtClean="0">
                <a:latin typeface="Book Antiqua" panose="02040602050305030304" pitchFamily="18" charset="0"/>
              </a:rPr>
              <a:t>isolation.</a:t>
            </a:r>
            <a:endParaRPr lang="en-US" sz="3400" dirty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Attaining </a:t>
            </a:r>
            <a:r>
              <a:rPr lang="en-US" sz="3400" dirty="0">
                <a:latin typeface="Book Antiqua" panose="02040602050305030304" pitchFamily="18" charset="0"/>
              </a:rPr>
              <a:t>the ability to achieve internal reform in order to avoid foreign pressure of all </a:t>
            </a:r>
            <a:r>
              <a:rPr lang="en-US" sz="3400" dirty="0" smtClean="0">
                <a:latin typeface="Book Antiqua" panose="02040602050305030304" pitchFamily="18" charset="0"/>
              </a:rPr>
              <a:t>sorts.</a:t>
            </a:r>
            <a:endParaRPr lang="en-US" sz="3400" dirty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Avoiding </a:t>
            </a:r>
            <a:r>
              <a:rPr lang="en-US" sz="3400" dirty="0">
                <a:latin typeface="Book Antiqua" panose="02040602050305030304" pitchFamily="18" charset="0"/>
              </a:rPr>
              <a:t>international isolation to prevent other states from getting together within the United Nations to use international law to harm </a:t>
            </a:r>
            <a:r>
              <a:rPr lang="en-US" sz="3400" dirty="0" smtClean="0">
                <a:latin typeface="Book Antiqua" panose="02040602050305030304" pitchFamily="18" charset="0"/>
              </a:rPr>
              <a:t>it</a:t>
            </a:r>
            <a:r>
              <a:rPr lang="en-US" sz="3400" dirty="0" smtClean="0">
                <a:latin typeface="Book Antiqua" panose="02040602050305030304" pitchFamily="18" charset="0"/>
              </a:rPr>
              <a:t>. </a:t>
            </a:r>
            <a:r>
              <a:rPr lang="en-US" sz="3400" b="1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(UN: Security Council).</a:t>
            </a:r>
            <a:r>
              <a:rPr lang="en-US" sz="3400" dirty="0" smtClean="0">
                <a:latin typeface="Book Antiqua" panose="02040602050305030304" pitchFamily="18" charset="0"/>
              </a:rPr>
              <a:t> </a:t>
            </a:r>
            <a:endParaRPr lang="en-US" sz="3400" dirty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Embracing </a:t>
            </a:r>
            <a:r>
              <a:rPr lang="en-US" sz="3400" dirty="0">
                <a:latin typeface="Book Antiqua" panose="02040602050305030304" pitchFamily="18" charset="0"/>
              </a:rPr>
              <a:t>pragmatism in the conduct of the state to come close to a theoretical basis for the understanding of the conduct of a weak state.</a:t>
            </a:r>
          </a:p>
        </p:txBody>
      </p:sp>
    </p:spTree>
    <p:extLst>
      <p:ext uri="{BB962C8B-B14F-4D97-AF65-F5344CB8AC3E}">
        <p14:creationId xmlns:p14="http://schemas.microsoft.com/office/powerpoint/2010/main" val="130593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1564" y="0"/>
            <a:ext cx="12100560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EVOLUTION: PAK. NATIONAL INTEREST</a:t>
            </a:r>
            <a:endParaRPr lang="en-US" sz="34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Pakistan's </a:t>
            </a:r>
            <a:r>
              <a:rPr lang="en-US" sz="3400" dirty="0">
                <a:latin typeface="Book Antiqua" panose="02040602050305030304" pitchFamily="18" charset="0"/>
              </a:rPr>
              <a:t>primary interest was to remain independent and viable in the face of a much larger and powerful neighbor</a:t>
            </a:r>
            <a:r>
              <a:rPr lang="en-US" sz="3400" dirty="0" smtClean="0">
                <a:latin typeface="Book Antiqua" panose="0204060205030503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The </a:t>
            </a:r>
            <a:r>
              <a:rPr lang="en-US" sz="3400" dirty="0">
                <a:latin typeface="Book Antiqua" panose="02040602050305030304" pitchFamily="18" charset="0"/>
              </a:rPr>
              <a:t>struggle of Kashmir to join Pakistan - or become independent from </a:t>
            </a:r>
            <a:r>
              <a:rPr lang="en-US" sz="3400" dirty="0" smtClean="0">
                <a:latin typeface="Book Antiqua" panose="02040602050305030304" pitchFamily="18" charset="0"/>
              </a:rPr>
              <a:t>India</a:t>
            </a:r>
            <a:r>
              <a:rPr lang="en-US" sz="3400" dirty="0">
                <a:latin typeface="Book Antiqua" panose="0204060205030503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Friendly </a:t>
            </a:r>
            <a:r>
              <a:rPr lang="en-US" sz="3400" dirty="0">
                <a:latin typeface="Book Antiqua" panose="02040602050305030304" pitchFamily="18" charset="0"/>
              </a:rPr>
              <a:t>and cooperative Afghanistan to ensure strategic </a:t>
            </a:r>
            <a:r>
              <a:rPr lang="en-US" sz="3400" dirty="0" smtClean="0">
                <a:latin typeface="Book Antiqua" panose="02040602050305030304" pitchFamily="18" charset="0"/>
              </a:rPr>
              <a:t>depth. </a:t>
            </a:r>
            <a:endParaRPr lang="en-US" sz="3400" dirty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Close </a:t>
            </a:r>
            <a:r>
              <a:rPr lang="en-US" sz="3400" dirty="0">
                <a:latin typeface="Book Antiqua" panose="02040602050305030304" pitchFamily="18" charset="0"/>
              </a:rPr>
              <a:t>relations with Saudi </a:t>
            </a:r>
            <a:r>
              <a:rPr lang="en-US" sz="3400" dirty="0" smtClean="0">
                <a:latin typeface="Book Antiqua" panose="02040602050305030304" pitchFamily="18" charset="0"/>
              </a:rPr>
              <a:t>Arabia.</a:t>
            </a:r>
            <a:endParaRPr lang="en-US" sz="3400" dirty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Pakistan’s </a:t>
            </a:r>
            <a:r>
              <a:rPr lang="en-US" sz="3400" dirty="0" smtClean="0">
                <a:latin typeface="Book Antiqua" panose="02040602050305030304" pitchFamily="18" charset="0"/>
              </a:rPr>
              <a:t>relationship </a:t>
            </a:r>
            <a:r>
              <a:rPr lang="en-US" sz="3400" dirty="0">
                <a:latin typeface="Book Antiqua" panose="02040602050305030304" pitchFamily="18" charset="0"/>
              </a:rPr>
              <a:t>with China, that it had been developing over many years after the Sino-Soviet split in the </a:t>
            </a:r>
            <a:r>
              <a:rPr lang="en-US" sz="3400" dirty="0" smtClean="0">
                <a:latin typeface="Book Antiqua" panose="02040602050305030304" pitchFamily="18" charset="0"/>
              </a:rPr>
              <a:t>70s </a:t>
            </a:r>
            <a:r>
              <a:rPr lang="en-US" sz="3400" dirty="0">
                <a:latin typeface="Book Antiqua" panose="02040602050305030304" pitchFamily="18" charset="0"/>
              </a:rPr>
              <a:t>as US strengthened its ties with </a:t>
            </a:r>
            <a:r>
              <a:rPr lang="en-US" sz="3400" dirty="0" smtClean="0">
                <a:latin typeface="Book Antiqua" panose="02040602050305030304" pitchFamily="18" charset="0"/>
              </a:rPr>
              <a:t>India.</a:t>
            </a:r>
            <a:endParaRPr lang="en-US" sz="3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44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1564" y="0"/>
            <a:ext cx="12100560" cy="7448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EVOLUTION: PAK. NATIONAL INTEREST</a:t>
            </a:r>
            <a:endParaRPr lang="en-US" sz="34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The </a:t>
            </a:r>
            <a:r>
              <a:rPr lang="en-US" sz="3400" dirty="0">
                <a:latin typeface="Book Antiqua" panose="02040602050305030304" pitchFamily="18" charset="0"/>
              </a:rPr>
              <a:t>end of the </a:t>
            </a:r>
            <a:r>
              <a:rPr lang="en-US" sz="3400" b="1" dirty="0" smtClean="0">
                <a:latin typeface="Book Antiqua" panose="02040602050305030304" pitchFamily="18" charset="0"/>
              </a:rPr>
              <a:t>Cold War (1946-91) </a:t>
            </a:r>
            <a:r>
              <a:rPr lang="en-US" sz="3400" dirty="0">
                <a:latin typeface="Book Antiqua" panose="02040602050305030304" pitchFamily="18" charset="0"/>
              </a:rPr>
              <a:t>and the abandonment by the US and its allies of </a:t>
            </a:r>
            <a:r>
              <a:rPr lang="en-US" sz="3400" dirty="0" smtClean="0">
                <a:latin typeface="Book Antiqua" panose="02040602050305030304" pitchFamily="18" charset="0"/>
              </a:rPr>
              <a:t>Afghanistan </a:t>
            </a:r>
            <a:r>
              <a:rPr lang="en-US" sz="3400" dirty="0">
                <a:latin typeface="Book Antiqua" panose="02040602050305030304" pitchFamily="18" charset="0"/>
              </a:rPr>
              <a:t>and </a:t>
            </a:r>
            <a:r>
              <a:rPr lang="en-US" sz="3400" dirty="0" smtClean="0">
                <a:latin typeface="Book Antiqua" panose="02040602050305030304" pitchFamily="18" charset="0"/>
              </a:rPr>
              <a:t>Pakistan.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America </a:t>
            </a:r>
            <a:r>
              <a:rPr lang="en-US" sz="3400" dirty="0">
                <a:latin typeface="Book Antiqua" panose="02040602050305030304" pitchFamily="18" charset="0"/>
              </a:rPr>
              <a:t>had ignored and distanced itself from all Saudi-Pakistani action in Afghanistan from 1991 until the late 90's until the emergence of </a:t>
            </a:r>
            <a:r>
              <a:rPr lang="en-US" sz="3400" b="1" dirty="0" smtClean="0">
                <a:latin typeface="Book Antiqua" panose="02040602050305030304" pitchFamily="18" charset="0"/>
              </a:rPr>
              <a:t>Al-Qaeda</a:t>
            </a:r>
            <a:r>
              <a:rPr lang="en-US" sz="3400" b="1" dirty="0">
                <a:latin typeface="Book Antiqua" panose="0204060205030503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The </a:t>
            </a:r>
            <a:r>
              <a:rPr lang="en-US" sz="3400" dirty="0">
                <a:latin typeface="Book Antiqua" panose="02040602050305030304" pitchFamily="18" charset="0"/>
              </a:rPr>
              <a:t>test </a:t>
            </a:r>
            <a:r>
              <a:rPr lang="en-US" sz="3400" dirty="0" smtClean="0">
                <a:latin typeface="Book Antiqua" panose="02040602050305030304" pitchFamily="18" charset="0"/>
              </a:rPr>
              <a:t>came, </a:t>
            </a:r>
            <a:r>
              <a:rPr lang="en-US" sz="3400" dirty="0">
                <a:latin typeface="Book Antiqua" panose="02040602050305030304" pitchFamily="18" charset="0"/>
              </a:rPr>
              <a:t>after 9/11, Pakistan had to choose between its interests in maintaining the Taliban in Afghanistan and that of the US, where the latter's objective was to oust the government that had provided a safe haven to the alleged perpetrators of 9/11.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84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1564" y="0"/>
            <a:ext cx="12100560" cy="726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WHAT PAKISTAN NEEDS to DO!</a:t>
            </a:r>
            <a:endParaRPr lang="en-US" sz="34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300" dirty="0" smtClean="0">
                <a:latin typeface="Book Antiqua" panose="02040602050305030304" pitchFamily="18" charset="0"/>
              </a:rPr>
              <a:t>Pakistan </a:t>
            </a:r>
            <a:r>
              <a:rPr lang="en-US" sz="3300" dirty="0">
                <a:latin typeface="Book Antiqua" panose="02040602050305030304" pitchFamily="18" charset="0"/>
              </a:rPr>
              <a:t>needs to reaffirm its commitment to maintaining a coherent geo-strategy towards </a:t>
            </a:r>
            <a:r>
              <a:rPr lang="en-US" sz="3300" dirty="0" smtClean="0">
                <a:latin typeface="Book Antiqua" panose="02040602050305030304" pitchFamily="18" charset="0"/>
              </a:rPr>
              <a:t>India.</a:t>
            </a:r>
            <a:endParaRPr lang="en-US" sz="3300" dirty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3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300" dirty="0" smtClean="0">
                <a:latin typeface="Book Antiqua" panose="02040602050305030304" pitchFamily="18" charset="0"/>
              </a:rPr>
              <a:t>It </a:t>
            </a:r>
            <a:r>
              <a:rPr lang="en-US" sz="3300" dirty="0">
                <a:latin typeface="Book Antiqua" panose="02040602050305030304" pitchFamily="18" charset="0"/>
              </a:rPr>
              <a:t>must redefine its commitment to Kashmir and redouble its efforts to find a political solution to the plight of </a:t>
            </a:r>
            <a:r>
              <a:rPr lang="en-US" sz="3300" dirty="0" smtClean="0">
                <a:latin typeface="Book Antiqua" panose="02040602050305030304" pitchFamily="18" charset="0"/>
              </a:rPr>
              <a:t>Kashmiris.</a:t>
            </a:r>
            <a:endParaRPr lang="en-US" sz="3300" dirty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3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300" dirty="0" smtClean="0">
                <a:latin typeface="Book Antiqua" panose="02040602050305030304" pitchFamily="18" charset="0"/>
              </a:rPr>
              <a:t>Must </a:t>
            </a:r>
            <a:r>
              <a:rPr lang="en-US" sz="3300" dirty="0">
                <a:latin typeface="Book Antiqua" panose="02040602050305030304" pitchFamily="18" charset="0"/>
              </a:rPr>
              <a:t>re-examine its bond with Saudi Arabia and achieve an equitable </a:t>
            </a:r>
            <a:r>
              <a:rPr lang="en-US" sz="3300" dirty="0" smtClean="0">
                <a:latin typeface="Book Antiqua" panose="02040602050305030304" pitchFamily="18" charset="0"/>
              </a:rPr>
              <a:t>mix.</a:t>
            </a:r>
            <a:endParaRPr lang="en-US" sz="3300" dirty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3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300" dirty="0" smtClean="0">
                <a:latin typeface="Book Antiqua" panose="02040602050305030304" pitchFamily="18" charset="0"/>
              </a:rPr>
              <a:t>It </a:t>
            </a:r>
            <a:r>
              <a:rPr lang="en-US" sz="3300" dirty="0">
                <a:latin typeface="Book Antiqua" panose="02040602050305030304" pitchFamily="18" charset="0"/>
              </a:rPr>
              <a:t>must </a:t>
            </a:r>
            <a:r>
              <a:rPr lang="en-US" sz="3300" dirty="0" smtClean="0">
                <a:latin typeface="Book Antiqua" panose="02040602050305030304" pitchFamily="18" charset="0"/>
              </a:rPr>
              <a:t>capitalize </a:t>
            </a:r>
            <a:r>
              <a:rPr lang="en-US" sz="3300" dirty="0">
                <a:latin typeface="Book Antiqua" panose="02040602050305030304" pitchFamily="18" charset="0"/>
              </a:rPr>
              <a:t>on, and foster the economic and military relationship with China, Pakistan’s most venerable and valuable </a:t>
            </a:r>
            <a:r>
              <a:rPr lang="en-US" sz="3300" dirty="0" smtClean="0">
                <a:latin typeface="Book Antiqua" panose="02040602050305030304" pitchFamily="18" charset="0"/>
              </a:rPr>
              <a:t>ally.</a:t>
            </a:r>
            <a:endParaRPr lang="en-US" sz="3300" dirty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20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1564" y="0"/>
            <a:ext cx="12100560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WHAT PAKISTAN NEEDS to DO!</a:t>
            </a:r>
            <a:endParaRPr lang="en-US" sz="3400" dirty="0" smtClean="0">
              <a:latin typeface="Book Antiqua" panose="02040602050305030304" pitchFamily="18" charset="0"/>
            </a:endParaRPr>
          </a:p>
          <a:p>
            <a:pPr algn="just"/>
            <a:endParaRPr lang="en-US" sz="3400" b="1" dirty="0" smtClean="0">
              <a:solidFill>
                <a:srgbClr val="FF0000"/>
              </a:solidFill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American </a:t>
            </a:r>
            <a:r>
              <a:rPr lang="en-US" sz="3400" dirty="0">
                <a:latin typeface="Book Antiqua" panose="02040602050305030304" pitchFamily="18" charset="0"/>
              </a:rPr>
              <a:t>and Pakistani interests do not </a:t>
            </a:r>
            <a:r>
              <a:rPr lang="en-US" sz="3400" dirty="0" smtClean="0">
                <a:latin typeface="Book Antiqua" panose="02040602050305030304" pitchFamily="18" charset="0"/>
              </a:rPr>
              <a:t>combine </a:t>
            </a:r>
            <a:r>
              <a:rPr lang="en-US" sz="3400" dirty="0">
                <a:latin typeface="Book Antiqua" panose="02040602050305030304" pitchFamily="18" charset="0"/>
              </a:rPr>
              <a:t>any longer; therefore, new parameters should be drawn up by both nations that limit and phase out bilateral security </a:t>
            </a:r>
            <a:r>
              <a:rPr lang="en-US" sz="3400" dirty="0" smtClean="0">
                <a:latin typeface="Book Antiqua" panose="02040602050305030304" pitchFamily="18" charset="0"/>
              </a:rPr>
              <a:t>cooperation.</a:t>
            </a:r>
            <a:endParaRPr lang="en-US" sz="3400" dirty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 smtClean="0">
              <a:latin typeface="Book Antiqua" panose="0204060205030503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dirty="0" smtClean="0">
                <a:latin typeface="Book Antiqua" panose="02040602050305030304" pitchFamily="18" charset="0"/>
              </a:rPr>
              <a:t>Pakistan </a:t>
            </a:r>
            <a:r>
              <a:rPr lang="en-US" sz="3400" dirty="0">
                <a:latin typeface="Book Antiqua" panose="02040602050305030304" pitchFamily="18" charset="0"/>
              </a:rPr>
              <a:t>must seek out its own path; independently, </a:t>
            </a:r>
            <a:r>
              <a:rPr lang="en-US" sz="3400" dirty="0" smtClean="0">
                <a:latin typeface="Book Antiqua" panose="02040602050305030304" pitchFamily="18" charset="0"/>
              </a:rPr>
              <a:t>whilst </a:t>
            </a:r>
            <a:r>
              <a:rPr lang="en-US" sz="3400" dirty="0">
                <a:latin typeface="Book Antiqua" panose="02040602050305030304" pitchFamily="18" charset="0"/>
              </a:rPr>
              <a:t>maintaining unity amongst its peoples; and confidently, </a:t>
            </a:r>
            <a:r>
              <a:rPr lang="en-US" sz="3400" dirty="0" smtClean="0">
                <a:latin typeface="Book Antiqua" panose="02040602050305030304" pitchFamily="18" charset="0"/>
              </a:rPr>
              <a:t>maintaining </a:t>
            </a:r>
            <a:r>
              <a:rPr lang="en-US" sz="3400" dirty="0">
                <a:latin typeface="Book Antiqua" panose="02040602050305030304" pitchFamily="18" charset="0"/>
              </a:rPr>
              <a:t>discipline in every field of its endeavor.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609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2018</TotalTime>
  <Words>546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Book Antiqua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Zuhaib</dc:creator>
  <cp:lastModifiedBy>Zuhaib</cp:lastModifiedBy>
  <cp:revision>758</cp:revision>
  <dcterms:created xsi:type="dcterms:W3CDTF">2019-08-18T13:44:52Z</dcterms:created>
  <dcterms:modified xsi:type="dcterms:W3CDTF">2021-12-19T12:45:36Z</dcterms:modified>
</cp:coreProperties>
</file>